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sldIdLst>
    <p:sldId id="530" r:id="rId5"/>
    <p:sldId id="531" r:id="rId6"/>
    <p:sldId id="533" r:id="rId7"/>
    <p:sldId id="534" r:id="rId8"/>
    <p:sldId id="535" r:id="rId9"/>
    <p:sldId id="547" r:id="rId10"/>
    <p:sldId id="548" r:id="rId11"/>
    <p:sldId id="537" r:id="rId12"/>
    <p:sldId id="549" r:id="rId13"/>
    <p:sldId id="536" r:id="rId14"/>
    <p:sldId id="553" r:id="rId15"/>
    <p:sldId id="551" r:id="rId16"/>
    <p:sldId id="554" r:id="rId17"/>
    <p:sldId id="558" r:id="rId18"/>
    <p:sldId id="555" r:id="rId19"/>
    <p:sldId id="559" r:id="rId20"/>
    <p:sldId id="560" r:id="rId21"/>
    <p:sldId id="561" r:id="rId22"/>
    <p:sldId id="562" r:id="rId23"/>
    <p:sldId id="563" r:id="rId24"/>
    <p:sldId id="564" r:id="rId25"/>
    <p:sldId id="573" r:id="rId26"/>
    <p:sldId id="567" r:id="rId27"/>
    <p:sldId id="566" r:id="rId28"/>
    <p:sldId id="568" r:id="rId29"/>
    <p:sldId id="572" r:id="rId30"/>
    <p:sldId id="571" r:id="rId31"/>
    <p:sldId id="569" r:id="rId32"/>
    <p:sldId id="57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52B"/>
    <a:srgbClr val="7F7F7F"/>
    <a:srgbClr val="FFFFFF"/>
    <a:srgbClr val="EAEAEA"/>
    <a:srgbClr val="8822EE"/>
    <a:srgbClr val="F01688"/>
    <a:srgbClr val="2F21F3"/>
    <a:srgbClr val="F01689"/>
    <a:srgbClr val="6F22E3"/>
    <a:srgbClr val="E21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F5344A-8D8A-E26D-199A-348649A0AE0C}" v="25" dt="2025-09-02T15:36:13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dre Neethling" userId="S::601304@student.belgiumcampus.ac.za::ca70e7ea-d21b-47a8-8584-4bf2326925bd" providerId="AD" clId="Web-{80F5344A-8D8A-E26D-199A-348649A0AE0C}"/>
    <pc:docChg chg="addSld modSld sldOrd">
      <pc:chgData name="Jandre Neethling" userId="S::601304@student.belgiumcampus.ac.za::ca70e7ea-d21b-47a8-8584-4bf2326925bd" providerId="AD" clId="Web-{80F5344A-8D8A-E26D-199A-348649A0AE0C}" dt="2025-09-02T15:36:13.881" v="21"/>
      <pc:docMkLst>
        <pc:docMk/>
      </pc:docMkLst>
      <pc:sldChg chg="modSp">
        <pc:chgData name="Jandre Neethling" userId="S::601304@student.belgiumcampus.ac.za::ca70e7ea-d21b-47a8-8584-4bf2326925bd" providerId="AD" clId="Web-{80F5344A-8D8A-E26D-199A-348649A0AE0C}" dt="2025-09-02T15:36:13.881" v="21"/>
        <pc:sldMkLst>
          <pc:docMk/>
          <pc:sldMk cId="943635282" sldId="571"/>
        </pc:sldMkLst>
        <pc:graphicFrameChg chg="modGraphic">
          <ac:chgData name="Jandre Neethling" userId="S::601304@student.belgiumcampus.ac.za::ca70e7ea-d21b-47a8-8584-4bf2326925bd" providerId="AD" clId="Web-{80F5344A-8D8A-E26D-199A-348649A0AE0C}" dt="2025-09-02T15:36:13.881" v="21"/>
          <ac:graphicFrameMkLst>
            <pc:docMk/>
            <pc:sldMk cId="943635282" sldId="571"/>
            <ac:graphicFrameMk id="24" creationId="{FB422C92-D091-B040-F8DE-F2C305BC4714}"/>
          </ac:graphicFrameMkLst>
        </pc:graphicFrameChg>
      </pc:sldChg>
      <pc:sldChg chg="addSp delSp modSp add ord replId">
        <pc:chgData name="Jandre Neethling" userId="S::601304@student.belgiumcampus.ac.za::ca70e7ea-d21b-47a8-8584-4bf2326925bd" providerId="AD" clId="Web-{80F5344A-8D8A-E26D-199A-348649A0AE0C}" dt="2025-09-02T15:34:34.362" v="14" actId="20577"/>
        <pc:sldMkLst>
          <pc:docMk/>
          <pc:sldMk cId="3087332650" sldId="573"/>
        </pc:sldMkLst>
        <pc:spChg chg="mod">
          <ac:chgData name="Jandre Neethling" userId="S::601304@student.belgiumcampus.ac.za::ca70e7ea-d21b-47a8-8584-4bf2326925bd" providerId="AD" clId="Web-{80F5344A-8D8A-E26D-199A-348649A0AE0C}" dt="2025-09-02T15:34:34.362" v="14" actId="20577"/>
          <ac:spMkLst>
            <pc:docMk/>
            <pc:sldMk cId="3087332650" sldId="573"/>
            <ac:spMk id="69" creationId="{DE16277C-1512-8337-72C7-AFC7F07DF359}"/>
          </ac:spMkLst>
        </pc:spChg>
        <pc:graphicFrameChg chg="del">
          <ac:chgData name="Jandre Neethling" userId="S::601304@student.belgiumcampus.ac.za::ca70e7ea-d21b-47a8-8584-4bf2326925bd" providerId="AD" clId="Web-{80F5344A-8D8A-E26D-199A-348649A0AE0C}" dt="2025-09-02T15:34:11.815" v="3"/>
          <ac:graphicFrameMkLst>
            <pc:docMk/>
            <pc:sldMk cId="3087332650" sldId="573"/>
            <ac:graphicFrameMk id="31" creationId="{DF6DDE9F-4C50-A07D-28CF-8E10DCA4A472}"/>
          </ac:graphicFrameMkLst>
        </pc:graphicFrameChg>
        <pc:picChg chg="add mod">
          <ac:chgData name="Jandre Neethling" userId="S::601304@student.belgiumcampus.ac.za::ca70e7ea-d21b-47a8-8584-4bf2326925bd" providerId="AD" clId="Web-{80F5344A-8D8A-E26D-199A-348649A0AE0C}" dt="2025-09-02T15:34:20.721" v="7" actId="1076"/>
          <ac:picMkLst>
            <pc:docMk/>
            <pc:sldMk cId="3087332650" sldId="573"/>
            <ac:picMk id="2" creationId="{28042DD7-14F9-CF09-0342-7F0E83436D1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150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78365-0A65-70A6-77FE-5BF22688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38C6A-1AD3-3F30-E76C-4098939B4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8FF96-6C56-6644-7659-57E820DC8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83504-5054-0D14-D0D7-F37B20BC5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666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353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C7C6-09D9-5AC8-5F7E-F3FC6AFA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66469-43AB-3F35-E5CB-22847B2EB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27797-1F0E-52F9-566F-851310FF9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56994-50AE-EC81-4CF2-EF33F5D18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5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39818-E2FF-4ABD-9593-656F6DF7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68EDF-B516-4D22-4BFF-C7D8A62DE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BFA7E-2517-E3E1-1AA3-34FF8793B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4E1EF-C902-59E0-3AFB-6CE156CC3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16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4990-7A9A-AD42-8246-19B1BB7B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1B287-C133-8A75-5058-7813DD6A4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BDC4A-E076-544A-83D2-12121763A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AFFD8-1D36-11D6-A2AB-5F93D0CDC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94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E224-7DD3-86D5-9451-5704FDD7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761CC-F737-C198-AF35-74FBD40E8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92497-CF8D-0888-80C4-6824940D1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2BC27-FE71-D3DF-0EE3-CABAA18BE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2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SWT281 Project</a:t>
            </a:r>
            <a:br>
              <a:rPr lang="en-US" dirty="0"/>
            </a:br>
            <a:r>
              <a:rPr lang="en-US" dirty="0"/>
              <a:t>Milestone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565" y="4240556"/>
            <a:ext cx="2352783" cy="1569660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Jandre Neethling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Eduard Herman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Henri Claassen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Jared Swanepoel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B63A0-8CD7-B906-3228-1250624A7DCA}"/>
              </a:ext>
            </a:extLst>
          </p:cNvPr>
          <p:cNvSpPr txBox="1"/>
          <p:nvPr/>
        </p:nvSpPr>
        <p:spPr>
          <a:xfrm>
            <a:off x="6421348" y="4240556"/>
            <a:ext cx="1397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chemeClr val="bg1"/>
                </a:solidFill>
              </a:rPr>
              <a:t>- 601304</a:t>
            </a:r>
          </a:p>
          <a:p>
            <a:r>
              <a:rPr lang="en-ZA" sz="2400" dirty="0">
                <a:solidFill>
                  <a:schemeClr val="bg1"/>
                </a:solidFill>
              </a:rPr>
              <a:t>- 602125</a:t>
            </a:r>
          </a:p>
          <a:p>
            <a:r>
              <a:rPr lang="en-ZA" sz="2400" dirty="0">
                <a:solidFill>
                  <a:schemeClr val="bg1"/>
                </a:solidFill>
              </a:rPr>
              <a:t>- 601720</a:t>
            </a:r>
          </a:p>
          <a:p>
            <a:r>
              <a:rPr lang="en-ZA" sz="2400" dirty="0">
                <a:solidFill>
                  <a:schemeClr val="bg1"/>
                </a:solidFill>
              </a:rPr>
              <a:t>- 601621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Table of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476752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Black-Box Testing</a:t>
            </a:r>
          </a:p>
          <a:p>
            <a:pPr marL="681228" lvl="1" indent="-342900">
              <a:lnSpc>
                <a:spcPct val="100000"/>
              </a:lnSpc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3-Point BVA</a:t>
            </a:r>
          </a:p>
          <a:p>
            <a:pPr marL="681228" lvl="1" indent="-34290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Equivalence Partitioning</a:t>
            </a:r>
          </a:p>
          <a:p>
            <a:pPr marL="681228" lvl="1" indent="-342900">
              <a:lnSpc>
                <a:spcPct val="100000"/>
              </a:lnSpc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Decision Table Testing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White-Box Testing</a:t>
            </a:r>
          </a:p>
          <a:p>
            <a:pPr marL="681228" lvl="1" indent="-342900">
              <a:lnSpc>
                <a:spcPct val="100000"/>
              </a:lnSpc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Statement Coverage</a:t>
            </a:r>
          </a:p>
          <a:p>
            <a:pPr marL="681228" lvl="1" indent="-342900">
              <a:lnSpc>
                <a:spcPct val="100000"/>
              </a:lnSpc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Branch Coverage</a:t>
            </a:r>
          </a:p>
          <a:p>
            <a:pPr marL="681228" lvl="1" indent="-34290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Condition Coverage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BLACK-BOX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1ACBF-CDED-AEBE-27CB-FCB476F7183F}"/>
              </a:ext>
            </a:extLst>
          </p:cNvPr>
          <p:cNvSpPr txBox="1"/>
          <p:nvPr/>
        </p:nvSpPr>
        <p:spPr>
          <a:xfrm>
            <a:off x="4871364" y="3630169"/>
            <a:ext cx="3602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ZA" sz="2400" dirty="0">
                <a:solidFill>
                  <a:schemeClr val="bg1"/>
                </a:solidFill>
              </a:rPr>
              <a:t>3-Point BVA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2400" dirty="0">
                <a:solidFill>
                  <a:schemeClr val="bg1"/>
                </a:solidFill>
              </a:rPr>
              <a:t>Equivalence Partitioning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2400" dirty="0">
                <a:solidFill>
                  <a:schemeClr val="bg1"/>
                </a:solidFill>
              </a:rPr>
              <a:t>Decision Table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3-Point BVA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509478"/>
          </a:xfrm>
        </p:spPr>
        <p:txBody>
          <a:bodyPr/>
          <a:lstStyle/>
          <a:p>
            <a:r>
              <a:rPr lang="en-US" b="1" dirty="0"/>
              <a:t>Boundaries for Animal Age:</a:t>
            </a:r>
          </a:p>
          <a:p>
            <a:pPr algn="l"/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FC7DE3-1355-445C-6276-611875287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05203"/>
              </p:ext>
            </p:extLst>
          </p:nvPr>
        </p:nvGraphicFramePr>
        <p:xfrm>
          <a:off x="2030476" y="4408258"/>
          <a:ext cx="8127999" cy="14833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25188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388415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27361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Invalid Lower Boundary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Valid Boundary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Invalid Upper Boundary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81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Value &lt;= 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0&lt; Value &lt; 150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Value &gt;= 150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78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LB – 1 = 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LB = 1, LB + 1 = 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388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Z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RB = 149, RB -1 = 148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RB + 1 = 150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00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909796"/>
            <a:ext cx="10881360" cy="590373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3-Point BVA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D47A0D-3688-2030-B45F-73B627677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748" y="1500169"/>
            <a:ext cx="10332720" cy="474934"/>
          </a:xfrm>
        </p:spPr>
        <p:txBody>
          <a:bodyPr/>
          <a:lstStyle/>
          <a:p>
            <a:r>
              <a:rPr lang="en-ZA" dirty="0"/>
              <a:t>Minimum of 6 Test Cases are required</a:t>
            </a:r>
          </a:p>
          <a:p>
            <a:pPr marL="0" indent="0">
              <a:buNone/>
            </a:pPr>
            <a:endParaRPr lang="en-ZA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471407-A031-7B5D-DCA8-73497606A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059964"/>
              </p:ext>
            </p:extLst>
          </p:nvPr>
        </p:nvGraphicFramePr>
        <p:xfrm>
          <a:off x="1005748" y="2199164"/>
          <a:ext cx="10585886" cy="37490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46805">
                  <a:extLst>
                    <a:ext uri="{9D8B030D-6E8A-4147-A177-3AD203B41FA5}">
                      <a16:colId xmlns:a16="http://schemas.microsoft.com/office/drawing/2014/main" val="1886384558"/>
                    </a:ext>
                  </a:extLst>
                </a:gridCol>
                <a:gridCol w="3263982">
                  <a:extLst>
                    <a:ext uri="{9D8B030D-6E8A-4147-A177-3AD203B41FA5}">
                      <a16:colId xmlns:a16="http://schemas.microsoft.com/office/drawing/2014/main" val="98743974"/>
                    </a:ext>
                  </a:extLst>
                </a:gridCol>
                <a:gridCol w="737337">
                  <a:extLst>
                    <a:ext uri="{9D8B030D-6E8A-4147-A177-3AD203B41FA5}">
                      <a16:colId xmlns:a16="http://schemas.microsoft.com/office/drawing/2014/main" val="1393704323"/>
                    </a:ext>
                  </a:extLst>
                </a:gridCol>
                <a:gridCol w="1476075">
                  <a:extLst>
                    <a:ext uri="{9D8B030D-6E8A-4147-A177-3AD203B41FA5}">
                      <a16:colId xmlns:a16="http://schemas.microsoft.com/office/drawing/2014/main" val="56632012"/>
                    </a:ext>
                  </a:extLst>
                </a:gridCol>
                <a:gridCol w="2574295">
                  <a:extLst>
                    <a:ext uri="{9D8B030D-6E8A-4147-A177-3AD203B41FA5}">
                      <a16:colId xmlns:a16="http://schemas.microsoft.com/office/drawing/2014/main" val="553057674"/>
                    </a:ext>
                  </a:extLst>
                </a:gridCol>
                <a:gridCol w="1387392">
                  <a:extLst>
                    <a:ext uri="{9D8B030D-6E8A-4147-A177-3AD203B41FA5}">
                      <a16:colId xmlns:a16="http://schemas.microsoft.com/office/drawing/2014/main" val="1351196527"/>
                    </a:ext>
                  </a:extLst>
                </a:gridCol>
              </a:tblGrid>
              <a:tr h="619869"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Test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Expected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Type of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722124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Age of 1 entered representing the left bound 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977632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Age of 0 entered representing the left bound -1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kern="1200" dirty="0">
                          <a:solidFill>
                            <a:schemeClr val="bg1"/>
                          </a:solidFill>
                          <a:effectLst/>
                        </a:rPr>
                        <a:t>Invalid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kern="1200" dirty="0">
                          <a:solidFill>
                            <a:schemeClr val="bg1"/>
                          </a:solidFill>
                          <a:effectLst/>
                        </a:rPr>
                        <a:t>Invalid age has been entered please try again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98917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Age of 2 entered representing the left bound +1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198077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Age of 149 entered representing the right bound 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76303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Age of 148 entered representing the right bound -1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876781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Age of 150 entered representing the right bound +1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kern="1200" dirty="0">
                          <a:solidFill>
                            <a:schemeClr val="bg1"/>
                          </a:solidFill>
                          <a:effectLst/>
                        </a:rPr>
                        <a:t>Invalid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kern="1200" dirty="0">
                          <a:solidFill>
                            <a:schemeClr val="bg1"/>
                          </a:solidFill>
                          <a:effectLst/>
                        </a:rPr>
                        <a:t>Invalid age has been entered please try again 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253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B430-B9E8-4D59-FF57-B2B829AE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243E-14B7-FC8A-4C44-1781C8198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Equivalence Partitioning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524A0-4987-A559-8093-58F8652A6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454060"/>
          </a:xfrm>
        </p:spPr>
        <p:txBody>
          <a:bodyPr/>
          <a:lstStyle/>
          <a:p>
            <a:r>
              <a:rPr lang="en-US" b="1" dirty="0"/>
              <a:t>Gender  Input Testing:</a:t>
            </a:r>
          </a:p>
          <a:p>
            <a:pPr algn="l"/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38EE92-7658-7E6A-CAA3-D7910C311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792295"/>
              </p:ext>
            </p:extLst>
          </p:nvPr>
        </p:nvGraphicFramePr>
        <p:xfrm>
          <a:off x="2560320" y="4405792"/>
          <a:ext cx="7068312" cy="11125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356104">
                  <a:extLst>
                    <a:ext uri="{9D8B030D-6E8A-4147-A177-3AD203B41FA5}">
                      <a16:colId xmlns:a16="http://schemas.microsoft.com/office/drawing/2014/main" val="2293924879"/>
                    </a:ext>
                  </a:extLst>
                </a:gridCol>
                <a:gridCol w="2356104">
                  <a:extLst>
                    <a:ext uri="{9D8B030D-6E8A-4147-A177-3AD203B41FA5}">
                      <a16:colId xmlns:a16="http://schemas.microsoft.com/office/drawing/2014/main" val="1452518845"/>
                    </a:ext>
                  </a:extLst>
                </a:gridCol>
                <a:gridCol w="2356104">
                  <a:extLst>
                    <a:ext uri="{9D8B030D-6E8A-4147-A177-3AD203B41FA5}">
                      <a16:colId xmlns:a16="http://schemas.microsoft.com/office/drawing/2014/main" val="2138841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Gender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Valid Values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Invalid Values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81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“M” or “m”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Anything that is not “M”, “m”, “F” or “f”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78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“F” or “f”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388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57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50CF-193B-D115-3404-461E7E7D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4A31-88B8-02C4-3BF2-1CD8C7E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909796"/>
            <a:ext cx="10881360" cy="590373"/>
          </a:xfrm>
        </p:spPr>
        <p:txBody>
          <a:bodyPr/>
          <a:lstStyle/>
          <a:p>
            <a:r>
              <a:rPr lang="en-US" dirty="0"/>
              <a:t>Equivalence Partitioning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AE877-C79A-D6F8-D921-B1FDB7946B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05A062-07D5-9411-0EF8-15279E3C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747" y="1687589"/>
            <a:ext cx="10585885" cy="474934"/>
          </a:xfrm>
        </p:spPr>
        <p:txBody>
          <a:bodyPr/>
          <a:lstStyle/>
          <a:p>
            <a:r>
              <a:rPr lang="en-ZA" dirty="0"/>
              <a:t>Minimum of 5 Test Cases are required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17B8BBB-8975-502F-30BD-23F80BB8D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32357"/>
              </p:ext>
            </p:extLst>
          </p:nvPr>
        </p:nvGraphicFramePr>
        <p:xfrm>
          <a:off x="1005748" y="2565476"/>
          <a:ext cx="10585886" cy="337879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146805">
                  <a:extLst>
                    <a:ext uri="{9D8B030D-6E8A-4147-A177-3AD203B41FA5}">
                      <a16:colId xmlns:a16="http://schemas.microsoft.com/office/drawing/2014/main" val="1886384558"/>
                    </a:ext>
                  </a:extLst>
                </a:gridCol>
                <a:gridCol w="3263982">
                  <a:extLst>
                    <a:ext uri="{9D8B030D-6E8A-4147-A177-3AD203B41FA5}">
                      <a16:colId xmlns:a16="http://schemas.microsoft.com/office/drawing/2014/main" val="98743974"/>
                    </a:ext>
                  </a:extLst>
                </a:gridCol>
                <a:gridCol w="737337">
                  <a:extLst>
                    <a:ext uri="{9D8B030D-6E8A-4147-A177-3AD203B41FA5}">
                      <a16:colId xmlns:a16="http://schemas.microsoft.com/office/drawing/2014/main" val="1393704323"/>
                    </a:ext>
                  </a:extLst>
                </a:gridCol>
                <a:gridCol w="1476075">
                  <a:extLst>
                    <a:ext uri="{9D8B030D-6E8A-4147-A177-3AD203B41FA5}">
                      <a16:colId xmlns:a16="http://schemas.microsoft.com/office/drawing/2014/main" val="56632012"/>
                    </a:ext>
                  </a:extLst>
                </a:gridCol>
                <a:gridCol w="2574295">
                  <a:extLst>
                    <a:ext uri="{9D8B030D-6E8A-4147-A177-3AD203B41FA5}">
                      <a16:colId xmlns:a16="http://schemas.microsoft.com/office/drawing/2014/main" val="553057674"/>
                    </a:ext>
                  </a:extLst>
                </a:gridCol>
                <a:gridCol w="1387392">
                  <a:extLst>
                    <a:ext uri="{9D8B030D-6E8A-4147-A177-3AD203B41FA5}">
                      <a16:colId xmlns:a16="http://schemas.microsoft.com/office/drawing/2014/main" val="1351196527"/>
                    </a:ext>
                  </a:extLst>
                </a:gridCol>
              </a:tblGrid>
              <a:tr h="619869"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Test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Expected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bg1"/>
                          </a:solidFill>
                          <a:latin typeface="+mj-lt"/>
                        </a:rPr>
                        <a:t>Type of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722124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Male valid gender input 1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977632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Male valid gender input 2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98917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Female valid gender input 1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198077"/>
                  </a:ext>
                </a:extLst>
              </a:tr>
              <a:tr h="501799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Female valid gender input 2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76303"/>
                  </a:ext>
                </a:extLst>
              </a:tr>
              <a:tr h="348620"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Not a valid gender input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Invalid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Invalid gender. Please enter either “M”, “m” for Male or “F”, “f” for Female. </a:t>
                      </a:r>
                      <a:endParaRPr lang="en-ZA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solidFill>
                            <a:schemeClr val="bg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876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61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4C44EC9-F730-00B6-E479-530EC276D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497321" y="2736484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B6D2F8E-4F98-B89F-E4FB-DD9F900821E1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9EBD7AD-ED91-CC5F-0110-3EE43A60F946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B0BED4-B4D2-A8C2-9E8E-FA7D1819E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99707" y="3205843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B542C6FD-B908-03BB-DE9D-1E76EE849265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594F7F18-2B8D-7493-904B-1BD252DFC677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4F090D-C862-CF85-1001-A82E54365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4372" y="2059828"/>
            <a:ext cx="7763256" cy="676656"/>
          </a:xfrm>
        </p:spPr>
        <p:txBody>
          <a:bodyPr/>
          <a:lstStyle/>
          <a:p>
            <a:r>
              <a:rPr lang="en-US" dirty="0"/>
              <a:t>Decision Table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F182C-896F-E5A4-9B93-ECFE500B88F7}"/>
              </a:ext>
            </a:extLst>
          </p:cNvPr>
          <p:cNvSpPr txBox="1"/>
          <p:nvPr/>
        </p:nvSpPr>
        <p:spPr>
          <a:xfrm>
            <a:off x="4722064" y="2398156"/>
            <a:ext cx="274786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ZA" sz="2400" b="1" dirty="0">
                <a:solidFill>
                  <a:schemeClr val="bg1"/>
                </a:solidFill>
                <a:latin typeface="+mj-lt"/>
              </a:rPr>
              <a:t>Usage Cases:</a:t>
            </a:r>
            <a:endParaRPr lang="en-ZA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en-ZA" dirty="0">
                <a:solidFill>
                  <a:schemeClr val="bg1"/>
                </a:solidFill>
              </a:rPr>
              <a:t>User Login</a:t>
            </a:r>
          </a:p>
          <a:p>
            <a:pPr marL="342900" indent="-342900">
              <a:buFont typeface="+mj-lt"/>
              <a:buAutoNum type="arabicParenR"/>
            </a:pPr>
            <a:r>
              <a:rPr lang="en-ZA" dirty="0">
                <a:solidFill>
                  <a:schemeClr val="bg1"/>
                </a:solidFill>
              </a:rPr>
              <a:t>Main Menu</a:t>
            </a:r>
          </a:p>
          <a:p>
            <a:pPr marL="342900" indent="-342900">
              <a:buFont typeface="+mj-lt"/>
              <a:buAutoNum type="arabicParenR"/>
            </a:pPr>
            <a:r>
              <a:rPr lang="en-ZA" dirty="0">
                <a:solidFill>
                  <a:schemeClr val="bg1"/>
                </a:solidFill>
              </a:rPr>
              <a:t>View Animal</a:t>
            </a:r>
          </a:p>
          <a:p>
            <a:pPr marL="342900" indent="-342900">
              <a:buFont typeface="+mj-lt"/>
              <a:buAutoNum type="arabicParenR"/>
            </a:pPr>
            <a:r>
              <a:rPr lang="en-ZA" dirty="0">
                <a:solidFill>
                  <a:schemeClr val="bg1"/>
                </a:solidFill>
              </a:rPr>
              <a:t>Add Employee</a:t>
            </a:r>
          </a:p>
          <a:p>
            <a:pPr marL="342900" indent="-342900">
              <a:buFont typeface="+mj-lt"/>
              <a:buAutoNum type="arabicParenR"/>
            </a:pPr>
            <a:r>
              <a:rPr lang="en-ZA" dirty="0">
                <a:solidFill>
                  <a:schemeClr val="bg1"/>
                </a:solidFill>
              </a:rPr>
              <a:t>Manage Appointments</a:t>
            </a:r>
          </a:p>
        </p:txBody>
      </p:sp>
    </p:spTree>
    <p:extLst>
      <p:ext uri="{BB962C8B-B14F-4D97-AF65-F5344CB8AC3E}">
        <p14:creationId xmlns:p14="http://schemas.microsoft.com/office/powerpoint/2010/main" val="1213210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6CCB-C8BA-EEDC-00D4-94177BCC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BE30-FB39-456C-AF6F-AB103B02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664" y="832104"/>
            <a:ext cx="8878824" cy="1015169"/>
          </a:xfrm>
        </p:spPr>
        <p:txBody>
          <a:bodyPr>
            <a:normAutofit fontScale="90000"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USER LOGIN LEGEND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3F9A1-52AF-C3BE-3B58-53B525F65E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127215-1036-92F8-0677-AA85369E0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941021"/>
              </p:ext>
            </p:extLst>
          </p:nvPr>
        </p:nvGraphicFramePr>
        <p:xfrm>
          <a:off x="1046664" y="2096932"/>
          <a:ext cx="2888027" cy="1778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39154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1948873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Actions/Outcomes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Login Successful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Login Failed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Display Message: “Too many attempts”; Exits 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94582B-9071-5955-092B-4016D524A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396596"/>
              </p:ext>
            </p:extLst>
          </p:nvPr>
        </p:nvGraphicFramePr>
        <p:xfrm>
          <a:off x="4436411" y="2096932"/>
          <a:ext cx="3211298" cy="36271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11444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2299854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304523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Conditions</a:t>
                      </a:r>
                      <a:endParaRPr lang="en-ZA" sz="14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Correct Username + Correct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Correct username + wrong password + attempts left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Wrong username + correct password + attempts left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Wrong username + wrong password + attempts left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06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Any username/password after last attempt (wrong inputs)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29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No valid credentials even after retries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43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18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User Login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9C20947-A133-32C2-D0F4-654D337A74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0489758"/>
              </p:ext>
            </p:extLst>
          </p:nvPr>
        </p:nvGraphicFramePr>
        <p:xfrm>
          <a:off x="1098806" y="2212975"/>
          <a:ext cx="9994393" cy="29633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602001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398732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398732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398732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1398732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398732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  <a:gridCol w="1398732">
                  <a:extLst>
                    <a:ext uri="{9D8B030D-6E8A-4147-A177-3AD203B41FA5}">
                      <a16:colId xmlns:a16="http://schemas.microsoft.com/office/drawing/2014/main" val="703647893"/>
                    </a:ext>
                  </a:extLst>
                </a:gridCol>
              </a:tblGrid>
              <a:tr h="59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R5</a:t>
                      </a:r>
                      <a:endParaRPr lang="en-US" sz="24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Valid 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Correct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Attempts 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&gt;=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&gt;=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&gt;=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&gt;=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Expected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2103-BE50-CE84-D7F0-0A70FCCEB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CE2FC7-E503-A829-6495-9D2FF3AE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32B6FAD-0EDF-61AE-FEFE-754A09745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523184"/>
              </p:ext>
            </p:extLst>
          </p:nvPr>
        </p:nvGraphicFramePr>
        <p:xfrm>
          <a:off x="1046663" y="2096932"/>
          <a:ext cx="3389747" cy="401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20682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2469065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Actions/Outcomes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Add New Animal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View All Animals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Search for Animals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View Medical Inventory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55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Calculate Medical Dosages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03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Add Employee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1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Add Login &amp; Prompt Re-Login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82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Manage Appointments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59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Calculate Employee Salaries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448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Exit 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8259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9F1E80A-014E-F42B-7A52-09B67901B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182275"/>
              </p:ext>
            </p:extLst>
          </p:nvPr>
        </p:nvGraphicFramePr>
        <p:xfrm>
          <a:off x="4886038" y="2096932"/>
          <a:ext cx="4128651" cy="401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05162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3223489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295286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Conditions</a:t>
                      </a:r>
                      <a:endParaRPr lang="en-ZA" sz="14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Add Animal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View Animals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Search Animal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chooses View Med Inventory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06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Calculate Dosage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29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Add Employee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4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Add 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41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Manage Appointments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7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Calculate 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88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User chooses Exit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53247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1E0E1663-D877-D023-B5C6-4174E071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664" y="832104"/>
            <a:ext cx="8878824" cy="1015169"/>
          </a:xfrm>
        </p:spPr>
        <p:txBody>
          <a:bodyPr>
            <a:normAutofit fontScale="90000"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Main Menu LEGEND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47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574A-E317-A1AD-C268-BE584C85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8A61-F559-F73F-FC63-1F52AC0B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Main Menu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C4E6D-9744-8B1E-44D4-32255AD6C1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E904372-9755-B2DB-7DD6-4E0BD4D25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475538"/>
              </p:ext>
            </p:extLst>
          </p:nvPr>
        </p:nvGraphicFramePr>
        <p:xfrm>
          <a:off x="701965" y="2075816"/>
          <a:ext cx="11406899" cy="378632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703647893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058973846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822610167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125848565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682965184"/>
                    </a:ext>
                  </a:extLst>
                </a:gridCol>
              </a:tblGrid>
              <a:tr h="59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R5</a:t>
                      </a:r>
                      <a:endParaRPr lang="en-US" sz="20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Add Animal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View Animals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Search Animal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Med Inventory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Calculate Dosage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92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23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0C05-B967-6604-8AC8-4662769DC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7853-7121-21BD-2DBC-720CB57A3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Main Menu Continued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553E2-51D5-E08E-C8A3-9F7966432B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BB709D3-A594-A228-F659-946D0E4E5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6921959"/>
              </p:ext>
            </p:extLst>
          </p:nvPr>
        </p:nvGraphicFramePr>
        <p:xfrm>
          <a:off x="701965" y="1901952"/>
          <a:ext cx="11406899" cy="4148704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703647893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058973846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822610167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125848565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682965184"/>
                    </a:ext>
                  </a:extLst>
                </a:gridCol>
              </a:tblGrid>
              <a:tr h="59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R5</a:t>
                      </a:r>
                      <a:endParaRPr lang="en-US" sz="20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Add 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Add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Appointments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Calc 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921710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Expected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72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15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DD79-3381-22A4-6ED1-B95D43F9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D5CEFB-EC93-7FD9-655D-927A72AA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5F0BCDE-8988-C26F-3021-6660EC07C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822809"/>
              </p:ext>
            </p:extLst>
          </p:nvPr>
        </p:nvGraphicFramePr>
        <p:xfrm>
          <a:off x="1046663" y="2096932"/>
          <a:ext cx="3389747" cy="23774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20682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2469065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Actions/Outcomes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Show message: “No Animals Found”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Display list of animals with their details and animal type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Show message: “No owners found”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Display list of owners with their details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5576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6CF7487-E39F-270B-4469-4F44A397B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016510"/>
              </p:ext>
            </p:extLst>
          </p:nvPr>
        </p:nvGraphicFramePr>
        <p:xfrm>
          <a:off x="4886038" y="2096932"/>
          <a:ext cx="4128651" cy="32308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05162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3223489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295286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Conditions</a:t>
                      </a:r>
                      <a:endParaRPr lang="en-ZA" sz="14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chooses Display Animals and if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</a:rPr>
                        <a:t>animalList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 is empty – Show message: “No animals found”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chooses Display Animals and if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</a:rPr>
                        <a:t>animalList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 has records - Display all animals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chooses Display Owners and if 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</a:rPr>
                        <a:t>ownerList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 is empty – Show message: “No owners found”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chooses Display Owners and if </a:t>
                      </a:r>
                      <a:r>
                        <a:rPr lang="en-GB" sz="1400" dirty="0" err="1">
                          <a:solidFill>
                            <a:schemeClr val="bg1"/>
                          </a:solidFill>
                        </a:rPr>
                        <a:t>ownerList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 has records - Display all owners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066361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8D206105-6AF6-6C6C-F597-64C81CB2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664" y="832104"/>
            <a:ext cx="8878824" cy="1015169"/>
          </a:xfrm>
        </p:spPr>
        <p:txBody>
          <a:bodyPr>
            <a:normAutofit fontScale="90000"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View Animals LEGEND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19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ED45-AB55-0101-AF6B-92DF38E1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FF98-5643-154F-0B30-8AF311C5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View Animals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CC816-77FD-BB45-3E5E-E131963F9E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04BBC5-A7C9-0823-E37A-A3DD7427F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621980"/>
              </p:ext>
            </p:extLst>
          </p:nvPr>
        </p:nvGraphicFramePr>
        <p:xfrm>
          <a:off x="3357420" y="2445271"/>
          <a:ext cx="5477159" cy="29633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59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Display Animals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Display Owners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Corresponding list is empty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Expected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20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F29A-4AC5-9495-01A2-7556C0EF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B73419-581F-3564-744A-034D49BA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264B358-BCB5-F03A-27E9-225BE67DF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616093"/>
              </p:ext>
            </p:extLst>
          </p:nvPr>
        </p:nvGraphicFramePr>
        <p:xfrm>
          <a:off x="1046663" y="2096932"/>
          <a:ext cx="3389747" cy="15544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20682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2469065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Actions/Outcomes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Employee successfully added (Vet / Manager / Assistant Nurse)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Input error - display validation/error message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082160B-E890-D3EC-61A2-DFDB9F18E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895577"/>
              </p:ext>
            </p:extLst>
          </p:nvPr>
        </p:nvGraphicFramePr>
        <p:xfrm>
          <a:off x="4886038" y="2096932"/>
          <a:ext cx="4128651" cy="15544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05162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3223489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295286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Conditions</a:t>
                      </a:r>
                      <a:endParaRPr lang="en-ZA" sz="14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Add Employee and enters valid input - Employee is added successfully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Add Employee but enters invalid input - Error message shown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60EAB502-CF84-412F-8FE8-6E89A350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664" y="832104"/>
            <a:ext cx="8878824" cy="1015169"/>
          </a:xfrm>
        </p:spPr>
        <p:txBody>
          <a:bodyPr>
            <a:normAutofit fontScale="90000"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ADD EMPLOYEE LEGEND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26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F619-5565-1190-5DE5-A2D13FBA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9C5E-4B34-4FED-17DB-2C9014E8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Add employee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C6EB0-C27A-560C-BE1F-5F1212DC30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61BC51E-E866-1BA8-E34B-CA0B88502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795048"/>
              </p:ext>
            </p:extLst>
          </p:nvPr>
        </p:nvGraphicFramePr>
        <p:xfrm>
          <a:off x="4345710" y="2657707"/>
          <a:ext cx="3500579" cy="2370688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98829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</a:tblGrid>
              <a:tr h="59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Display Animals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Display Owners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Expected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7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EC20-3073-C973-F293-4FAF13A1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12AEF6-AD20-D8D4-5196-82C7C015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FB71325-CEF5-3530-D89E-0028B6D70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507033"/>
              </p:ext>
            </p:extLst>
          </p:nvPr>
        </p:nvGraphicFramePr>
        <p:xfrm>
          <a:off x="1046664" y="1847550"/>
          <a:ext cx="3389747" cy="43027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20682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2469065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Actions/Outcomes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System displays: “No animals available”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Appointment created and confirmation popup displayed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Show Invalid date or time format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Appointment rescheduled and confirmation popup displayed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55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Show Invalid number / date format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03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Appointment cancelled and confirmation popup displayed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1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Show Invalid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82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Display all appointments for selected animal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5929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9DDB16F-E718-15FF-F836-45CA0284E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995167"/>
              </p:ext>
            </p:extLst>
          </p:nvPr>
        </p:nvGraphicFramePr>
        <p:xfrm>
          <a:off x="4738255" y="1847273"/>
          <a:ext cx="4627418" cy="47294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014511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3612907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</a:tblGrid>
              <a:tr h="295286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Conditions</a:t>
                      </a:r>
                      <a:endParaRPr lang="en-ZA" sz="14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No animals available - message shown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Create Appointment with valid date/time - appointment added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Create Appointment with invalid date/time - error message shown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28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Reschedule Appointment with valid number and date/time - appointment rescheduled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06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Reschedule Appointment with invalid number/date/time - error message shown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29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Cancel Appointment with valid number - appointment cancelled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4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Cancel Appointment with invalid number - error message shown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41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User selects View Appointments - appointments displayed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79147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8AA5E958-1A01-E701-06EB-40AEA4D8E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663" y="832104"/>
            <a:ext cx="9538209" cy="1015169"/>
          </a:xfrm>
        </p:spPr>
        <p:txBody>
          <a:bodyPr>
            <a:normAutofit fontScale="90000"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</a:t>
            </a:r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Manage appointments </a:t>
            </a: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LEGEND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24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82AF-87A5-173E-4F49-FBF3D760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9B77-81F4-B9CA-14DA-F9AD55E8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Decision Table Testing</a:t>
            </a:r>
            <a:b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</a:br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- Manage appointments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61741-75D3-CA2E-A655-23EDB2948C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A30CF1A-639F-238C-3561-15C4DC6E5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696055"/>
              </p:ext>
            </p:extLst>
          </p:nvPr>
        </p:nvGraphicFramePr>
        <p:xfrm>
          <a:off x="1380840" y="2142097"/>
          <a:ext cx="10155381" cy="29633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641173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064276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064276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862308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1266244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190628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  <a:gridCol w="937924">
                  <a:extLst>
                    <a:ext uri="{9D8B030D-6E8A-4147-A177-3AD203B41FA5}">
                      <a16:colId xmlns:a16="http://schemas.microsoft.com/office/drawing/2014/main" val="703647893"/>
                    </a:ext>
                  </a:extLst>
                </a:gridCol>
                <a:gridCol w="1064276">
                  <a:extLst>
                    <a:ext uri="{9D8B030D-6E8A-4147-A177-3AD203B41FA5}">
                      <a16:colId xmlns:a16="http://schemas.microsoft.com/office/drawing/2014/main" val="2058973846"/>
                    </a:ext>
                  </a:extLst>
                </a:gridCol>
                <a:gridCol w="1064276">
                  <a:extLst>
                    <a:ext uri="{9D8B030D-6E8A-4147-A177-3AD203B41FA5}">
                      <a16:colId xmlns:a16="http://schemas.microsoft.com/office/drawing/2014/main" val="3822610167"/>
                    </a:ext>
                  </a:extLst>
                </a:gridCol>
              </a:tblGrid>
              <a:tr h="59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R5</a:t>
                      </a:r>
                      <a:endParaRPr lang="en-US" sz="20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Add 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Add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Cancel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Cancel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User selects Appointments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Expected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72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C8A9-2C2A-3BA7-6974-48E89683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8E68-4CA6-B83C-4DC9-B612C4F198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White-Box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AFB4B-74C3-529B-F4CC-6B676D3F13C2}"/>
              </a:ext>
            </a:extLst>
          </p:cNvPr>
          <p:cNvSpPr txBox="1"/>
          <p:nvPr/>
        </p:nvSpPr>
        <p:spPr>
          <a:xfrm>
            <a:off x="4871364" y="3630169"/>
            <a:ext cx="31646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ZA" sz="2400" dirty="0">
                <a:solidFill>
                  <a:schemeClr val="bg1"/>
                </a:solidFill>
              </a:rPr>
              <a:t>Statement Coverage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2400" dirty="0">
                <a:solidFill>
                  <a:schemeClr val="bg1"/>
                </a:solidFill>
              </a:rPr>
              <a:t>Branch Coverage</a:t>
            </a:r>
          </a:p>
          <a:p>
            <a:pPr marL="342900" indent="-342900">
              <a:buFont typeface="+mj-lt"/>
              <a:buAutoNum type="arabicPeriod"/>
            </a:pPr>
            <a:r>
              <a:rPr lang="en-ZA" sz="2400" dirty="0">
                <a:solidFill>
                  <a:schemeClr val="bg1"/>
                </a:solidFill>
              </a:rPr>
              <a:t>Condition Coverage</a:t>
            </a:r>
          </a:p>
        </p:txBody>
      </p:sp>
    </p:spTree>
    <p:extLst>
      <p:ext uri="{BB962C8B-B14F-4D97-AF65-F5344CB8AC3E}">
        <p14:creationId xmlns:p14="http://schemas.microsoft.com/office/powerpoint/2010/main" val="197228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BA24-8BEC-5F5F-1FA6-F42A5760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EA1D-1548-964C-F1BF-6D467542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 Coverage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AB236-2DEA-51E8-07EC-AF519764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21</a:t>
            </a:fld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B7B3AAE-FF26-EB90-7192-3B065B6D00BF}"/>
              </a:ext>
            </a:extLst>
          </p:cNvPr>
          <p:cNvSpPr txBox="1">
            <a:spLocks/>
          </p:cNvSpPr>
          <p:nvPr/>
        </p:nvSpPr>
        <p:spPr>
          <a:xfrm>
            <a:off x="1545336" y="2145030"/>
            <a:ext cx="7068312" cy="4540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Total Amount of Statements: 27</a:t>
            </a:r>
          </a:p>
          <a:p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AAFE38E-8D0F-1DF4-5621-09F961BB9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162830"/>
              </p:ext>
            </p:extLst>
          </p:nvPr>
        </p:nvGraphicFramePr>
        <p:xfrm>
          <a:off x="1545336" y="2851313"/>
          <a:ext cx="7970244" cy="20726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999681">
                  <a:extLst>
                    <a:ext uri="{9D8B030D-6E8A-4147-A177-3AD203B41FA5}">
                      <a16:colId xmlns:a16="http://schemas.microsoft.com/office/drawing/2014/main" val="3937439458"/>
                    </a:ext>
                  </a:extLst>
                </a:gridCol>
                <a:gridCol w="2323521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  <a:gridCol w="2323521">
                  <a:extLst>
                    <a:ext uri="{9D8B030D-6E8A-4147-A177-3AD203B41FA5}">
                      <a16:colId xmlns:a16="http://schemas.microsoft.com/office/drawing/2014/main" val="3800974427"/>
                    </a:ext>
                  </a:extLst>
                </a:gridCol>
                <a:gridCol w="2323521">
                  <a:extLst>
                    <a:ext uri="{9D8B030D-6E8A-4147-A177-3AD203B41FA5}">
                      <a16:colId xmlns:a16="http://schemas.microsoft.com/office/drawing/2014/main" val="3932862217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Test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Statements Executed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Total Statement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Name and password is correct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62.96%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Name and password is incorrect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62.96%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All attempts used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85.19%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402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298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3CAC9-EDCF-89F1-D810-FB47860F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DE16277C-1512-8337-72C7-AFC7F07D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203199"/>
            <a:ext cx="8878824" cy="608861"/>
          </a:xfrm>
        </p:spPr>
        <p:txBody>
          <a:bodyPr/>
          <a:lstStyle/>
          <a:p>
            <a:r>
              <a:rPr lang="en-US" dirty="0"/>
              <a:t>Statement Coverage</a:t>
            </a:r>
          </a:p>
        </p:txBody>
      </p:sp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8042DD7-14F9-CF09-0342-7F0E83436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704" y="821956"/>
            <a:ext cx="5784155" cy="584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32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E22D2-1826-838F-575E-B3E194C3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8E18-48B9-AC6E-2343-2B476934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Coverage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B9A88-5C2F-EEA1-3365-4E33003A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0FE0A31-F9C8-A6C6-C99D-5417FF0A1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738650"/>
              </p:ext>
            </p:extLst>
          </p:nvPr>
        </p:nvGraphicFramePr>
        <p:xfrm>
          <a:off x="1674645" y="2392680"/>
          <a:ext cx="4647042" cy="20726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23521">
                  <a:extLst>
                    <a:ext uri="{9D8B030D-6E8A-4147-A177-3AD203B41FA5}">
                      <a16:colId xmlns:a16="http://schemas.microsoft.com/office/drawing/2014/main" val="202947843"/>
                    </a:ext>
                  </a:extLst>
                </a:gridCol>
                <a:gridCol w="2323521">
                  <a:extLst>
                    <a:ext uri="{9D8B030D-6E8A-4147-A177-3AD203B41FA5}">
                      <a16:colId xmlns:a16="http://schemas.microsoft.com/office/drawing/2014/main" val="3800974427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  <a:latin typeface="+mj-lt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792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Total Branches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07464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Covered Branches</a:t>
                      </a:r>
                      <a:endParaRPr lang="en-ZA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8722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Coverage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solidFill>
                            <a:schemeClr val="bg1"/>
                          </a:solidFill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402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54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2FBE-44CE-48A9-DAA3-2926A6DB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C532C81C-54A7-9831-8254-AB0BAD320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203199"/>
            <a:ext cx="8878824" cy="608861"/>
          </a:xfrm>
        </p:spPr>
        <p:txBody>
          <a:bodyPr/>
          <a:lstStyle/>
          <a:p>
            <a:r>
              <a:rPr lang="en-US" dirty="0"/>
              <a:t>Branch Coverage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FC8EF24-CB86-B910-9465-4AE3EF0C6A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431281"/>
              </p:ext>
            </p:extLst>
          </p:nvPr>
        </p:nvGraphicFramePr>
        <p:xfrm>
          <a:off x="161636" y="1329297"/>
          <a:ext cx="11868727" cy="473142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536963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3471741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92566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129335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1826907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978121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</a:tblGrid>
              <a:tr h="4911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Decision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Branch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Condition/Case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Expected Behavior</a:t>
                      </a:r>
                      <a:endParaRPr lang="en-US" sz="14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First If Statement: IF 1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(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animalList.Count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==0)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animalList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empty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 'No animals available.', Sleep 2s, return to menu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First If Statement: IF 1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(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animalList.Count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==0)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animalList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not empty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Go to menus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Case Create Appointment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switch(input)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Create_Appointment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Menu: Create Appointment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Prompt for date &amp;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Case Reschedule Appointment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switch(input)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Reschedule_Appointment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Menu: Reschedule Appointment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Show appointments; prompt for number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72826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Case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switch(input)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Default/Back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Back to main /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Exit loop / 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133836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Appointment Date and Time Entered for Creation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Create: if 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(date) &amp;&amp; 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(time))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Valid date &amp;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Create appointment; popup: </a:t>
                      </a:r>
                      <a:r>
                        <a:rPr lang="en-US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AppointmentAdded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890047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Appointment Date and Time Entered for Creation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Create: if 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(date) &amp;&amp; 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(time))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Invalid date &amp;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 "Invalid date or time format."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641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708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FBD2-F6D8-20EE-7F65-3B352701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36AB0A2E-22D1-AC98-D622-7BA50DFFF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203199"/>
            <a:ext cx="8878824" cy="608861"/>
          </a:xfrm>
        </p:spPr>
        <p:txBody>
          <a:bodyPr/>
          <a:lstStyle/>
          <a:p>
            <a:r>
              <a:rPr lang="en-US" dirty="0"/>
              <a:t>Branch Coverage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3E00FE35-767C-F904-7E58-6F5BAF4525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5187612"/>
              </p:ext>
            </p:extLst>
          </p:nvPr>
        </p:nvGraphicFramePr>
        <p:xfrm>
          <a:off x="161636" y="1329297"/>
          <a:ext cx="11868727" cy="299055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536963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3471741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92566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129335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1826907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978121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</a:tblGrid>
              <a:tr h="4911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Decision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Decision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Branch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Condition/Case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Expected Behavior</a:t>
                      </a:r>
                      <a:endParaRPr lang="en-US" sz="14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Appointment Number Exists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Reschedule: if 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int.TryParse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(number))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Valid Appointment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Prompt for new date/time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Appointment Number Exists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Reschedule: if 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int.TryParse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(number))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Invalid Appointment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 "Invalid Appointment number."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Appointment Date and Time Entered for Rescheduling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Reschedule: if 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newDate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 &amp;&amp; 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newTime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))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Valid new date &amp;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Reschedule; display: “Appointment Changed”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49119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IF Appointment Date and Time Entered for Rescheduling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Reschedule: if 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newDate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 &amp;&amp; 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TryParse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(</a:t>
                      </a:r>
                      <a:r>
                        <a:rPr lang="en-GB" sz="14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newTime</a:t>
                      </a:r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))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Invalid new date &amp;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 "Invalid date or time format."</a:t>
                      </a:r>
                      <a:endParaRPr lang="en-US" sz="14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72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57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AA08D-9E18-BFDC-BCD0-93CF6E9F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337F-D5BE-B984-1A5E-5B0EF2893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 Coverage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113693F-4125-20F0-EC34-D3F71653AE9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60319" y="3531155"/>
                <a:ext cx="7068312" cy="454060"/>
              </a:xfrm>
            </p:spPr>
            <p:txBody>
              <a:bodyPr/>
              <a:lstStyle/>
              <a:p>
                <a:r>
                  <a:rPr lang="en-US" b="1" dirty="0"/>
                  <a:t>Number of Possible Outcomes: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ZA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ZA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en-US" b="1" dirty="0"/>
                  <a:t> = 32</a:t>
                </a:r>
              </a:p>
              <a:p>
                <a:pPr algn="l"/>
                <a:endParaRPr lang="en-US" b="1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113693F-4125-20F0-EC34-D3F71653A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60319" y="3531155"/>
                <a:ext cx="7068312" cy="454060"/>
              </a:xfrm>
              <a:blipFill>
                <a:blip r:embed="rId2"/>
                <a:stretch>
                  <a:fillRect t="-14667" b="-2666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197FBC-3B04-B95B-676A-11211747D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417516"/>
              </p:ext>
            </p:extLst>
          </p:nvPr>
        </p:nvGraphicFramePr>
        <p:xfrm>
          <a:off x="2030476" y="4058551"/>
          <a:ext cx="8127999" cy="25958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25188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388415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27361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Output Type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Number of Outputs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  <a:latin typeface="+mj-lt"/>
                        </a:rPr>
                        <a:t>Coverage (%)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81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Mammal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3.13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78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Reptile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3.13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388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Bird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3.13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00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Water Animal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3.13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604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No Animals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255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Infeasible / No Output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37.50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59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30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365B-C26D-C7F4-43FB-8F213298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6EC9-871C-406D-D906-656EAA85B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1316736"/>
            <a:ext cx="8878824" cy="576072"/>
          </a:xfrm>
        </p:spPr>
        <p:txBody>
          <a:bodyPr/>
          <a:lstStyle/>
          <a:p>
            <a:r>
              <a:rPr lang="en-US" dirty="0"/>
              <a:t>Condition Coverage Legend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C2C64-AB78-70F8-ECAB-279979C3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27</a:t>
            </a:fld>
            <a:endParaRPr lang="en-US" dirty="0"/>
          </a:p>
        </p:txBody>
      </p:sp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FB422C92-D091-B040-F8DE-F2C305BC47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774164"/>
              </p:ext>
            </p:extLst>
          </p:nvPr>
        </p:nvGraphicFramePr>
        <p:xfrm>
          <a:off x="683490" y="1892808"/>
          <a:ext cx="11397672" cy="4341712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2849418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849418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2849418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849418">
                  <a:extLst>
                    <a:ext uri="{9D8B030D-6E8A-4147-A177-3AD203B41FA5}">
                      <a16:colId xmlns:a16="http://schemas.microsoft.com/office/drawing/2014/main" val="3226084601"/>
                    </a:ext>
                  </a:extLst>
                </a:gridCol>
              </a:tblGrid>
              <a:tr h="59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Mammal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B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Reptile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Bird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bg1"/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Water Animal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2672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Name: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mammal.AnimalName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 Id: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mammal.AnimalID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 Age: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mammal.AnimalAge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 Weight: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mammal.AnimalWeight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 Diet: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mammal.DietType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sv-SE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 Fur Type: </a:t>
                      </a:r>
                      <a:r>
                        <a:rPr lang="sv-SE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{mammal.FurType}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sv-SE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 Leg Count: </a:t>
                      </a:r>
                      <a:r>
                        <a:rPr lang="sv-SE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{mammal.LegCount}</a:t>
                      </a:r>
                      <a:endParaRPr lang="en-US" sz="1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Name: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reptile.AnimalName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 Id: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reptile.AnimalID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 Age: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reptile.AnimalAge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 Weight: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reptile.AnimalWeight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 Diet: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reptile.DietType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 </a:t>
                      </a:r>
                      <a:r>
                        <a:rPr lang="fr-FR" sz="1600" b="1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Scale</a:t>
                      </a:r>
                      <a:r>
                        <a:rPr lang="fr-FR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Type: </a:t>
                      </a:r>
                      <a:r>
                        <a:rPr lang="fr-FR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fr-FR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reptile.ScaleType</a:t>
                      </a:r>
                      <a:r>
                        <a:rPr lang="fr-FR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  <a:endParaRPr lang="en-US" sz="1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Name: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bird.AnimalName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 Id: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bird.AnimalID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 Age: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bird.AnimalAge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 Weight: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bird.AnimalWeight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 Diet: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    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bird.DietType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 Wingspan: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bird.WingSpan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Name: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wateranimal.AnimalName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 Animal Id: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wateranimal.AnimalID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 Animal  Age: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wateranimal.AnimalAge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 Animal Weight: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wateranimal.AnimalWeight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 Animal  Diet: 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US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wateranimal.DietType</a:t>
                      </a: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 Animal </a:t>
                      </a:r>
                      <a:r>
                        <a:rPr lang="en-GB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Gil Count: </a:t>
                      </a:r>
                      <a:r>
                        <a:rPr lang="en-GB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GB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wateranimal.GilCount</a:t>
                      </a:r>
                      <a:r>
                        <a:rPr lang="en-GB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 Animal </a:t>
                      </a:r>
                      <a:r>
                        <a:rPr lang="en-GB" sz="1600" b="1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 Fin Count: </a:t>
                      </a:r>
                      <a:r>
                        <a:rPr lang="en-GB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{</a:t>
                      </a:r>
                      <a:r>
                        <a:rPr lang="en-GB" sz="1600" b="0" i="0" dirty="0" err="1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wateranimal.FinCount</a:t>
                      </a:r>
                      <a:r>
                        <a:rPr lang="en-GB" sz="16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}</a:t>
                      </a:r>
                      <a:endParaRPr lang="en-US" sz="1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600" b="0" i="0" dirty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63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BF94-5377-1E2B-AD9C-34A04313B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4ACC2B16-8508-8FE3-A22C-418DC43A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203199"/>
            <a:ext cx="8878824" cy="608861"/>
          </a:xfrm>
        </p:spPr>
        <p:txBody>
          <a:bodyPr/>
          <a:lstStyle/>
          <a:p>
            <a:r>
              <a:rPr lang="en-US" dirty="0"/>
              <a:t>Condition Coverage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E0FAB8B8-1DDE-3083-8EB7-739ECB248E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042035"/>
              </p:ext>
            </p:extLst>
          </p:nvPr>
        </p:nvGraphicFramePr>
        <p:xfrm>
          <a:off x="618837" y="950607"/>
          <a:ext cx="11000509" cy="53949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817355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697192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  <a:gridCol w="2729406">
                  <a:extLst>
                    <a:ext uri="{9D8B030D-6E8A-4147-A177-3AD203B41FA5}">
                      <a16:colId xmlns:a16="http://schemas.microsoft.com/office/drawing/2014/main" val="505120813"/>
                    </a:ext>
                  </a:extLst>
                </a:gridCol>
              </a:tblGrid>
              <a:tr h="4364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Test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 err="1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animalList.Count</a:t>
                      </a: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 ==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mammal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reptile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bird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water animal</a:t>
                      </a:r>
                      <a:endParaRPr lang="en-US" sz="14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72826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383884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66719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43405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377988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825487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84121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480378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7679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71159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32248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42297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PRINT: “No animals found”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295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19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B315-A533-A73B-C3BA-91DCF392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B6EED238-DF98-EB14-B531-79B3ED81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203199"/>
            <a:ext cx="8878824" cy="608861"/>
          </a:xfrm>
        </p:spPr>
        <p:txBody>
          <a:bodyPr/>
          <a:lstStyle/>
          <a:p>
            <a:r>
              <a:rPr lang="en-US" dirty="0"/>
              <a:t>Condition Coverage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84D8A4B5-FE6F-715B-9CFA-F8E991A214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2901507"/>
              </p:ext>
            </p:extLst>
          </p:nvPr>
        </p:nvGraphicFramePr>
        <p:xfrm>
          <a:off x="618837" y="950607"/>
          <a:ext cx="11000509" cy="53949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817355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697192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4165375432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439139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  <a:gridCol w="2729406">
                  <a:extLst>
                    <a:ext uri="{9D8B030D-6E8A-4147-A177-3AD203B41FA5}">
                      <a16:colId xmlns:a16="http://schemas.microsoft.com/office/drawing/2014/main" val="505120813"/>
                    </a:ext>
                  </a:extLst>
                </a:gridCol>
              </a:tblGrid>
              <a:tr h="4364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Test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 err="1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animalList.Count</a:t>
                      </a: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 ==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mammal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reptile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bird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Animal is water animal</a:t>
                      </a:r>
                      <a:endParaRPr lang="en-US" sz="1400" b="1" i="0" dirty="0">
                        <a:solidFill>
                          <a:schemeClr val="accent3">
                            <a:lumMod val="25000"/>
                          </a:schemeClr>
                        </a:solidFill>
                        <a:latin typeface="Tw Cen MT" panose="020B0602020104020603" pitchFamily="34" charset="77"/>
                        <a:cs typeface="Segoe UI Ligh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dirty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Tw Cen MT" panose="020B0602020104020603" pitchFamily="34" charset="77"/>
                          <a:cs typeface="Segoe UI Light" panose="020B0502040204020203" pitchFamily="34" charset="0"/>
                        </a:rPr>
                        <a:t>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772826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383884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66719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643405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Mammal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377988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825487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84121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480378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Reptile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07679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71159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Bird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32248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Water Animal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42297"/>
                  </a:ext>
                </a:extLst>
              </a:tr>
              <a:tr h="29976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Infeasible / Nothing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295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80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67C4BF10100443AD1AECB8CEF93C55" ma:contentTypeVersion="3" ma:contentTypeDescription="Create a new document." ma:contentTypeScope="" ma:versionID="3ae2cdb28a10a2335ae134fbd5909ba2">
  <xsd:schema xmlns:xsd="http://www.w3.org/2001/XMLSchema" xmlns:xs="http://www.w3.org/2001/XMLSchema" xmlns:p="http://schemas.microsoft.com/office/2006/metadata/properties" xmlns:ns2="059ef7d4-77da-474a-9ac5-b152dc26a665" targetNamespace="http://schemas.microsoft.com/office/2006/metadata/properties" ma:root="true" ma:fieldsID="489d04cdde160f2671b523d99f28f467" ns2:_="">
    <xsd:import namespace="059ef7d4-77da-474a-9ac5-b152dc26a6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9ef7d4-77da-474a-9ac5-b152dc26a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58038B-E9B8-477E-BBB2-9FAB9AAAD2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9ef7d4-77da-474a-9ac5-b152dc26a6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329</TotalTime>
  <Words>2353</Words>
  <Application>Microsoft Office PowerPoint</Application>
  <PresentationFormat>Widescreen</PresentationFormat>
  <Paragraphs>971</Paragraphs>
  <Slides>29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SWT281 Project Milestone 2</vt:lpstr>
      <vt:lpstr>Table of CONTENTS</vt:lpstr>
      <vt:lpstr>BLACK-BOX Testing</vt:lpstr>
      <vt:lpstr>3-Point BVA</vt:lpstr>
      <vt:lpstr>3-Point BVA</vt:lpstr>
      <vt:lpstr>Equivalence Partitioning</vt:lpstr>
      <vt:lpstr>Equivalence Partitioning</vt:lpstr>
      <vt:lpstr>Decision Table Testing</vt:lpstr>
      <vt:lpstr>DECISION TABLE TESTING - USER LOGIN LEGEND</vt:lpstr>
      <vt:lpstr>Decision Table Testing - User Login</vt:lpstr>
      <vt:lpstr>DECISION TABLE TESTING - Main Menu LEGEND</vt:lpstr>
      <vt:lpstr>Decision Table Testing - Main Menu</vt:lpstr>
      <vt:lpstr>Decision Table Testing - Main Menu Continued</vt:lpstr>
      <vt:lpstr>DECISION TABLE TESTING - View Animals LEGEND</vt:lpstr>
      <vt:lpstr>Decision Table Testing - View Animals</vt:lpstr>
      <vt:lpstr>DECISION TABLE TESTING - ADD EMPLOYEE LEGEND</vt:lpstr>
      <vt:lpstr>Decision Table Testing - Add employee</vt:lpstr>
      <vt:lpstr>DECISION TABLE TESTING - Manage appointments LEGEND</vt:lpstr>
      <vt:lpstr>Decision Table Testing - Manage appointments</vt:lpstr>
      <vt:lpstr>White-Box Testing</vt:lpstr>
      <vt:lpstr>Statement Coverage</vt:lpstr>
      <vt:lpstr>Statement Coverage</vt:lpstr>
      <vt:lpstr>Branch Coverage</vt:lpstr>
      <vt:lpstr>Branch Coverage</vt:lpstr>
      <vt:lpstr>Branch Coverage</vt:lpstr>
      <vt:lpstr>Condition Coverage</vt:lpstr>
      <vt:lpstr>Condition Coverage Legend</vt:lpstr>
      <vt:lpstr>Condition Coverage</vt:lpstr>
      <vt:lpstr>Condition Coverage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Jandre Neethling</dc:creator>
  <cp:lastModifiedBy>Jandre Neethling</cp:lastModifiedBy>
  <cp:revision>24</cp:revision>
  <dcterms:created xsi:type="dcterms:W3CDTF">2025-09-02T08:08:19Z</dcterms:created>
  <dcterms:modified xsi:type="dcterms:W3CDTF">2025-09-02T15:36:18Z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0x0101003967C4BF10100443AD1AECB8CEF93C55</vt:lpwstr>
  </property>
</Properties>
</file>